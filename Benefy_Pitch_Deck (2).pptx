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our actual homepage. We're Team Benefy. What you're looking at is a real, working product, not a mockup.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number that started this project. Advance to the next slide for the statewide scale.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Same problem, statewide scale. This is the slide that lands after advancing from the 62,000 stat.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Seniors: SSI participation has hovered around half since the program began in the 1970s.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our actual product flow, live right now. The rules engine, not the model, is what returns eligibility, which matters a lot for trust.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weekend gets us a working interview-to-match pipeline. Next: more programs, more languages, and real partnerships.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sources for the deck, consolidated here instead of on individual slides.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enefy_deck/logo_cropp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18408" y="2238544"/>
            <a:ext cx="4754880" cy="210659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enefy_deck/logo_cropp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402336"/>
            <a:ext cx="949408" cy="42062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920240"/>
            <a:ext cx="112471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62,000</a:t>
            </a:r>
            <a:endParaRPr lang="en-US" sz="11800" dirty="0"/>
          </a:p>
        </p:txBody>
      </p:sp>
      <p:sp>
        <p:nvSpPr>
          <p:cNvPr id="4" name="Text 1"/>
          <p:cNvSpPr/>
          <p:nvPr/>
        </p:nvSpPr>
        <p:spPr>
          <a:xfrm>
            <a:off x="640080" y="3749040"/>
            <a:ext cx="9875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2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in San Francisco and Marin are eligible for food</a:t>
            </a:r>
            <a:endParaRPr lang="en-US" sz="24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2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assistance right now, and don't know it.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640080" y="4800600"/>
            <a:ext cx="950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That's roughly the population of Pacifica, going hungry when they don't have to.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enefy_deck/logo_cropp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402336"/>
            <a:ext cx="949408" cy="42062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920240"/>
            <a:ext cx="112471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$3,500,000,000</a:t>
            </a:r>
            <a:endParaRPr lang="en-US" sz="11800" dirty="0"/>
          </a:p>
        </p:txBody>
      </p:sp>
      <p:sp>
        <p:nvSpPr>
          <p:cNvPr id="4" name="Text 1"/>
          <p:cNvSpPr/>
          <p:nvPr/>
        </p:nvSpPr>
        <p:spPr>
          <a:xfrm>
            <a:off x="640080" y="3749040"/>
            <a:ext cx="9875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2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food assistance goes unclaimed across California</a:t>
            </a:r>
            <a:endParaRPr lang="en-US" sz="24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2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year.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640080" y="4800600"/>
            <a:ext cx="950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2.7 million eligible Californians never signed up.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enefy_deck/logo_cropp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402336"/>
            <a:ext cx="949408" cy="42062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920240"/>
            <a:ext cx="112471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49%</a:t>
            </a:r>
            <a:endParaRPr lang="en-US" sz="11800" dirty="0"/>
          </a:p>
        </p:txBody>
      </p:sp>
      <p:sp>
        <p:nvSpPr>
          <p:cNvPr id="4" name="Text 1"/>
          <p:cNvSpPr/>
          <p:nvPr/>
        </p:nvSpPr>
        <p:spPr>
          <a:xfrm>
            <a:off x="640080" y="3749040"/>
            <a:ext cx="9875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2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eligible seniors nationwide actually receive the SSI</a:t>
            </a:r>
            <a:endParaRPr lang="en-US" sz="24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2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qualify for.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640080" y="4800600"/>
            <a:ext cx="950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That's 2.3 million seniors missing out in an average month.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enefy_deck/logo_cropp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402336"/>
            <a:ext cx="949408" cy="42062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85953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640080" y="1133856"/>
            <a:ext cx="10789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 Benefy: a conversation that finds what forms can't.</a:t>
            </a:r>
            <a:endParaRPr lang="en-US" sz="2500" dirty="0"/>
          </a:p>
        </p:txBody>
      </p:sp>
      <p:sp>
        <p:nvSpPr>
          <p:cNvPr id="5" name="Text 2"/>
          <p:cNvSpPr/>
          <p:nvPr/>
        </p:nvSpPr>
        <p:spPr>
          <a:xfrm>
            <a:off x="640080" y="169164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jargon, no 12-page applications. Just a conversation about your life.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2139696" y="3246120"/>
            <a:ext cx="46764" cy="34442"/>
          </a:xfrm>
          <a:prstGeom prst="line">
            <a:avLst/>
          </a:prstGeom>
          <a:noFill/>
          <a:ln w="28575">
            <a:solidFill>
              <a:srgbClr val="0F766E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2186460" y="3280562"/>
            <a:ext cx="52314" cy="41961"/>
          </a:xfrm>
          <a:prstGeom prst="line">
            <a:avLst/>
          </a:prstGeom>
          <a:noFill/>
          <a:ln w="28575">
            <a:solidFill>
              <a:srgbClr val="0F766E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2238774" y="3322523"/>
            <a:ext cx="57573" cy="48870"/>
          </a:xfrm>
          <a:prstGeom prst="line">
            <a:avLst/>
          </a:prstGeom>
          <a:noFill/>
          <a:ln w="28575">
            <a:solidFill>
              <a:srgbClr val="0F766E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296346" y="3371393"/>
            <a:ext cx="62540" cy="55169"/>
          </a:xfrm>
          <a:prstGeom prst="line">
            <a:avLst/>
          </a:prstGeom>
          <a:noFill/>
          <a:ln w="28575">
            <a:solidFill>
              <a:srgbClr val="0F766E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358886" y="3426562"/>
            <a:ext cx="67216" cy="60858"/>
          </a:xfrm>
          <a:prstGeom prst="line">
            <a:avLst/>
          </a:prstGeom>
          <a:noFill/>
          <a:ln w="28575">
            <a:solidFill>
              <a:srgbClr val="0F766E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426102" y="3487420"/>
            <a:ext cx="71600" cy="65938"/>
          </a:xfrm>
          <a:prstGeom prst="line">
            <a:avLst/>
          </a:prstGeom>
          <a:noFill/>
          <a:ln w="28575">
            <a:solidFill>
              <a:srgbClr val="0F766E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497702" y="3553358"/>
            <a:ext cx="75692" cy="70409"/>
          </a:xfrm>
          <a:prstGeom prst="line">
            <a:avLst/>
          </a:prstGeom>
          <a:noFill/>
          <a:ln w="28575">
            <a:solidFill>
              <a:srgbClr val="0F766E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573394" y="3623767"/>
            <a:ext cx="79493" cy="74270"/>
          </a:xfrm>
          <a:prstGeom prst="line">
            <a:avLst/>
          </a:prstGeom>
          <a:noFill/>
          <a:ln w="28575">
            <a:solidFill>
              <a:srgbClr val="0F766E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2652887" y="3698037"/>
            <a:ext cx="83002" cy="77521"/>
          </a:xfrm>
          <a:prstGeom prst="line">
            <a:avLst/>
          </a:prstGeom>
          <a:noFill/>
          <a:ln w="28575">
            <a:solidFill>
              <a:srgbClr val="0F766E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2735889" y="3775558"/>
            <a:ext cx="86220" cy="80162"/>
          </a:xfrm>
          <a:prstGeom prst="line">
            <a:avLst/>
          </a:prstGeom>
          <a:noFill/>
          <a:ln w="28575">
            <a:solidFill>
              <a:srgbClr val="0F766E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2822109" y="3855720"/>
            <a:ext cx="89146" cy="82194"/>
          </a:xfrm>
          <a:prstGeom prst="line">
            <a:avLst/>
          </a:prstGeom>
          <a:noFill/>
          <a:ln w="28575">
            <a:solidFill>
              <a:srgbClr val="0F766E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2911255" y="3937914"/>
            <a:ext cx="91781" cy="83617"/>
          </a:xfrm>
          <a:prstGeom prst="line">
            <a:avLst/>
          </a:prstGeom>
          <a:noFill/>
          <a:ln w="28575">
            <a:solidFill>
              <a:srgbClr val="0F766E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3003036" y="4021531"/>
            <a:ext cx="94123" cy="84430"/>
          </a:xfrm>
          <a:prstGeom prst="line">
            <a:avLst/>
          </a:prstGeom>
          <a:noFill/>
          <a:ln w="28575">
            <a:solidFill>
              <a:srgbClr val="0F766E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3097159" y="4105961"/>
            <a:ext cx="96175" cy="84633"/>
          </a:xfrm>
          <a:prstGeom prst="line">
            <a:avLst/>
          </a:prstGeom>
          <a:noFill/>
          <a:ln w="28575">
            <a:solidFill>
              <a:srgbClr val="0F766E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3193334" y="4190594"/>
            <a:ext cx="97934" cy="84226"/>
          </a:xfrm>
          <a:prstGeom prst="line">
            <a:avLst/>
          </a:prstGeom>
          <a:noFill/>
          <a:ln w="28575">
            <a:solidFill>
              <a:srgbClr val="0F766E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3291268" y="4274820"/>
            <a:ext cx="99403" cy="83210"/>
          </a:xfrm>
          <a:prstGeom prst="line">
            <a:avLst/>
          </a:prstGeom>
          <a:noFill/>
          <a:ln w="28575">
            <a:solidFill>
              <a:srgbClr val="0F766E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3390671" y="4358030"/>
            <a:ext cx="100579" cy="81585"/>
          </a:xfrm>
          <a:prstGeom prst="line">
            <a:avLst/>
          </a:prstGeom>
          <a:noFill/>
          <a:ln w="28575">
            <a:solidFill>
              <a:srgbClr val="0F766E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3491250" y="4439615"/>
            <a:ext cx="101464" cy="79350"/>
          </a:xfrm>
          <a:prstGeom prst="line">
            <a:avLst/>
          </a:prstGeom>
          <a:noFill/>
          <a:ln w="28575">
            <a:solidFill>
              <a:srgbClr val="0F766E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3592714" y="4518965"/>
            <a:ext cx="102057" cy="76505"/>
          </a:xfrm>
          <a:prstGeom prst="line">
            <a:avLst/>
          </a:prstGeom>
          <a:noFill/>
          <a:ln w="28575">
            <a:solidFill>
              <a:srgbClr val="0F766E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3694772" y="4595470"/>
            <a:ext cx="102359" cy="73050"/>
          </a:xfrm>
          <a:prstGeom prst="line">
            <a:avLst/>
          </a:prstGeom>
          <a:noFill/>
          <a:ln w="28575">
            <a:solidFill>
              <a:srgbClr val="0F766E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3797131" y="4668520"/>
            <a:ext cx="102369" cy="68986"/>
          </a:xfrm>
          <a:prstGeom prst="line">
            <a:avLst/>
          </a:prstGeom>
          <a:noFill/>
          <a:ln w="28575">
            <a:solidFill>
              <a:srgbClr val="0F766E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3899500" y="4737506"/>
            <a:ext cx="102088" cy="64313"/>
          </a:xfrm>
          <a:prstGeom prst="line">
            <a:avLst/>
          </a:prstGeom>
          <a:noFill/>
          <a:ln w="28575">
            <a:solidFill>
              <a:srgbClr val="0F766E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4001588" y="4801819"/>
            <a:ext cx="101515" cy="59030"/>
          </a:xfrm>
          <a:prstGeom prst="line">
            <a:avLst/>
          </a:prstGeom>
          <a:noFill/>
          <a:ln w="28575">
            <a:solidFill>
              <a:srgbClr val="0F766E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4103103" y="4860849"/>
            <a:ext cx="100650" cy="53137"/>
          </a:xfrm>
          <a:prstGeom prst="line">
            <a:avLst/>
          </a:prstGeom>
          <a:noFill/>
          <a:ln w="28575">
            <a:solidFill>
              <a:srgbClr val="0F766E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4203753" y="4913986"/>
            <a:ext cx="99494" cy="46634"/>
          </a:xfrm>
          <a:prstGeom prst="line">
            <a:avLst/>
          </a:prstGeom>
          <a:noFill/>
          <a:ln w="28575">
            <a:solidFill>
              <a:srgbClr val="0F766E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4303247" y="4960620"/>
            <a:ext cx="98046" cy="39522"/>
          </a:xfrm>
          <a:prstGeom prst="line">
            <a:avLst/>
          </a:prstGeom>
          <a:noFill/>
          <a:ln w="28575">
            <a:solidFill>
              <a:srgbClr val="0F766E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4401293" y="5000142"/>
            <a:ext cx="96307" cy="31801"/>
          </a:xfrm>
          <a:prstGeom prst="line">
            <a:avLst/>
          </a:prstGeom>
          <a:noFill/>
          <a:ln w="28575">
            <a:solidFill>
              <a:srgbClr val="0F766E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4497600" y="5031943"/>
            <a:ext cx="94276" cy="23470"/>
          </a:xfrm>
          <a:prstGeom prst="line">
            <a:avLst/>
          </a:prstGeom>
          <a:noFill/>
          <a:ln w="28575">
            <a:solidFill>
              <a:srgbClr val="0F766E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4591876" y="5055413"/>
            <a:ext cx="91953" cy="14529"/>
          </a:xfrm>
          <a:prstGeom prst="line">
            <a:avLst/>
          </a:prstGeom>
          <a:noFill/>
          <a:ln w="28575">
            <a:solidFill>
              <a:srgbClr val="0F766E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4683829" y="5069942"/>
            <a:ext cx="89339" cy="4978"/>
          </a:xfrm>
          <a:prstGeom prst="line">
            <a:avLst/>
          </a:prstGeom>
          <a:noFill/>
          <a:ln w="28575">
            <a:solidFill>
              <a:srgbClr val="0F766E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 flipV="1">
            <a:off x="4773168" y="5068959"/>
            <a:ext cx="87950" cy="5961"/>
          </a:xfrm>
          <a:prstGeom prst="line">
            <a:avLst/>
          </a:prstGeom>
          <a:noFill/>
          <a:ln w="28575">
            <a:solidFill>
              <a:srgbClr val="0F766E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 flipV="1">
            <a:off x="4861118" y="5051620"/>
            <a:ext cx="87978" cy="17340"/>
          </a:xfrm>
          <a:prstGeom prst="line">
            <a:avLst/>
          </a:prstGeom>
          <a:noFill/>
          <a:ln w="28575">
            <a:solidFill>
              <a:srgbClr val="0F766E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 flipV="1">
            <a:off x="4949096" y="5023714"/>
            <a:ext cx="88005" cy="27906"/>
          </a:xfrm>
          <a:prstGeom prst="line">
            <a:avLst/>
          </a:prstGeom>
          <a:noFill/>
          <a:ln w="28575">
            <a:solidFill>
              <a:srgbClr val="0F766E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 flipV="1">
            <a:off x="5037100" y="4986054"/>
            <a:ext cx="88029" cy="37660"/>
          </a:xfrm>
          <a:prstGeom prst="line">
            <a:avLst/>
          </a:prstGeom>
          <a:noFill/>
          <a:ln w="28575">
            <a:solidFill>
              <a:srgbClr val="0F766E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 flipV="1">
            <a:off x="5125129" y="4939453"/>
            <a:ext cx="88051" cy="46601"/>
          </a:xfrm>
          <a:prstGeom prst="line">
            <a:avLst/>
          </a:prstGeom>
          <a:noFill/>
          <a:ln w="28575">
            <a:solidFill>
              <a:srgbClr val="0F766E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 flipV="1">
            <a:off x="5213181" y="4884725"/>
            <a:ext cx="88072" cy="54729"/>
          </a:xfrm>
          <a:prstGeom prst="line">
            <a:avLst/>
          </a:prstGeom>
          <a:noFill/>
          <a:ln w="28575">
            <a:solidFill>
              <a:srgbClr val="0F766E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 flipV="1">
            <a:off x="5301252" y="4822681"/>
            <a:ext cx="88090" cy="62044"/>
          </a:xfrm>
          <a:prstGeom prst="line">
            <a:avLst/>
          </a:prstGeom>
          <a:noFill/>
          <a:ln w="28575">
            <a:solidFill>
              <a:srgbClr val="0F766E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 flipV="1">
            <a:off x="5389342" y="4754135"/>
            <a:ext cx="88106" cy="68546"/>
          </a:xfrm>
          <a:prstGeom prst="line">
            <a:avLst/>
          </a:prstGeom>
          <a:noFill/>
          <a:ln w="28575">
            <a:solidFill>
              <a:srgbClr val="0F766E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 flipV="1">
            <a:off x="5477448" y="4679899"/>
            <a:ext cx="88120" cy="74236"/>
          </a:xfrm>
          <a:prstGeom prst="line">
            <a:avLst/>
          </a:prstGeom>
          <a:noFill/>
          <a:ln w="28575">
            <a:solidFill>
              <a:srgbClr val="0F766E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 flipV="1">
            <a:off x="5565569" y="4600787"/>
            <a:ext cx="88133" cy="79113"/>
          </a:xfrm>
          <a:prstGeom prst="line">
            <a:avLst/>
          </a:prstGeom>
          <a:noFill/>
          <a:ln w="28575">
            <a:solidFill>
              <a:srgbClr val="0F766E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 flipV="1">
            <a:off x="5653701" y="4517610"/>
            <a:ext cx="88143" cy="83177"/>
          </a:xfrm>
          <a:prstGeom prst="line">
            <a:avLst/>
          </a:prstGeom>
          <a:noFill/>
          <a:ln w="28575">
            <a:solidFill>
              <a:srgbClr val="0F766E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 flipV="1">
            <a:off x="5741844" y="4431182"/>
            <a:ext cx="88151" cy="86428"/>
          </a:xfrm>
          <a:prstGeom prst="line">
            <a:avLst/>
          </a:prstGeom>
          <a:noFill/>
          <a:ln w="28575">
            <a:solidFill>
              <a:srgbClr val="0F766E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 flipV="1">
            <a:off x="5829995" y="4342316"/>
            <a:ext cx="88157" cy="88866"/>
          </a:xfrm>
          <a:prstGeom prst="line">
            <a:avLst/>
          </a:prstGeom>
          <a:noFill/>
          <a:ln w="28575">
            <a:solidFill>
              <a:srgbClr val="0F766E"/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 flipV="1">
            <a:off x="5918152" y="4251825"/>
            <a:ext cx="88161" cy="90492"/>
          </a:xfrm>
          <a:prstGeom prst="line">
            <a:avLst/>
          </a:prstGeom>
          <a:noFill/>
          <a:ln w="28575">
            <a:solidFill>
              <a:srgbClr val="0F766E"/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 flipV="1">
            <a:off x="6006313" y="4160520"/>
            <a:ext cx="88163" cy="91305"/>
          </a:xfrm>
          <a:prstGeom prst="line">
            <a:avLst/>
          </a:prstGeom>
          <a:noFill/>
          <a:ln w="28575">
            <a:solidFill>
              <a:srgbClr val="0F766E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 flipV="1">
            <a:off x="6094476" y="4069215"/>
            <a:ext cx="88163" cy="91305"/>
          </a:xfrm>
          <a:prstGeom prst="line">
            <a:avLst/>
          </a:prstGeom>
          <a:noFill/>
          <a:ln w="28575">
            <a:solidFill>
              <a:srgbClr val="0F766E"/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 flipV="1">
            <a:off x="6182639" y="3978724"/>
            <a:ext cx="88161" cy="90492"/>
          </a:xfrm>
          <a:prstGeom prst="line">
            <a:avLst/>
          </a:prstGeom>
          <a:noFill/>
          <a:ln w="28575">
            <a:solidFill>
              <a:srgbClr val="0F766E"/>
            </a:solidFill>
            <a:prstDash val="solid"/>
          </a:ln>
        </p:spPr>
      </p:sp>
      <p:sp>
        <p:nvSpPr>
          <p:cNvPr id="53" name="Shape 50"/>
          <p:cNvSpPr/>
          <p:nvPr/>
        </p:nvSpPr>
        <p:spPr>
          <a:xfrm flipV="1">
            <a:off x="6270800" y="3889858"/>
            <a:ext cx="88157" cy="88866"/>
          </a:xfrm>
          <a:prstGeom prst="line">
            <a:avLst/>
          </a:prstGeom>
          <a:noFill/>
          <a:ln w="28575">
            <a:solidFill>
              <a:srgbClr val="0F766E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 flipV="1">
            <a:off x="6358957" y="3803430"/>
            <a:ext cx="88151" cy="86428"/>
          </a:xfrm>
          <a:prstGeom prst="line">
            <a:avLst/>
          </a:prstGeom>
          <a:noFill/>
          <a:ln w="28575">
            <a:solidFill>
              <a:srgbClr val="0F766E"/>
            </a:solidFill>
            <a:prstDash val="solid"/>
          </a:ln>
        </p:spPr>
      </p:sp>
      <p:sp>
        <p:nvSpPr>
          <p:cNvPr id="55" name="Shape 52"/>
          <p:cNvSpPr/>
          <p:nvPr/>
        </p:nvSpPr>
        <p:spPr>
          <a:xfrm flipV="1">
            <a:off x="6447108" y="3720253"/>
            <a:ext cx="88143" cy="83177"/>
          </a:xfrm>
          <a:prstGeom prst="line">
            <a:avLst/>
          </a:prstGeom>
          <a:noFill/>
          <a:ln w="28575">
            <a:solidFill>
              <a:srgbClr val="0F766E"/>
            </a:solidFill>
            <a:prstDash val="solid"/>
          </a:ln>
        </p:spPr>
      </p:sp>
      <p:sp>
        <p:nvSpPr>
          <p:cNvPr id="56" name="Shape 53"/>
          <p:cNvSpPr/>
          <p:nvPr/>
        </p:nvSpPr>
        <p:spPr>
          <a:xfrm flipV="1">
            <a:off x="6535251" y="3641141"/>
            <a:ext cx="88133" cy="79113"/>
          </a:xfrm>
          <a:prstGeom prst="line">
            <a:avLst/>
          </a:prstGeom>
          <a:noFill/>
          <a:ln w="28575">
            <a:solidFill>
              <a:srgbClr val="0F766E"/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 flipV="1">
            <a:off x="6623383" y="3566905"/>
            <a:ext cx="88120" cy="74236"/>
          </a:xfrm>
          <a:prstGeom prst="line">
            <a:avLst/>
          </a:prstGeom>
          <a:noFill/>
          <a:ln w="28575">
            <a:solidFill>
              <a:srgbClr val="0F766E"/>
            </a:solidFill>
            <a:prstDash val="solid"/>
          </a:ln>
        </p:spPr>
      </p:sp>
      <p:sp>
        <p:nvSpPr>
          <p:cNvPr id="58" name="Shape 55"/>
          <p:cNvSpPr/>
          <p:nvPr/>
        </p:nvSpPr>
        <p:spPr>
          <a:xfrm flipV="1">
            <a:off x="6711504" y="3498359"/>
            <a:ext cx="88106" cy="68546"/>
          </a:xfrm>
          <a:prstGeom prst="line">
            <a:avLst/>
          </a:prstGeom>
          <a:noFill/>
          <a:ln w="28575">
            <a:solidFill>
              <a:srgbClr val="0F766E"/>
            </a:solidFill>
            <a:prstDash val="solid"/>
          </a:ln>
        </p:spPr>
      </p:sp>
      <p:sp>
        <p:nvSpPr>
          <p:cNvPr id="59" name="Shape 56"/>
          <p:cNvSpPr/>
          <p:nvPr/>
        </p:nvSpPr>
        <p:spPr>
          <a:xfrm flipV="1">
            <a:off x="6799610" y="3436315"/>
            <a:ext cx="88090" cy="62044"/>
          </a:xfrm>
          <a:prstGeom prst="line">
            <a:avLst/>
          </a:prstGeom>
          <a:noFill/>
          <a:ln w="28575">
            <a:solidFill>
              <a:srgbClr val="0F766E"/>
            </a:solidFill>
            <a:prstDash val="solid"/>
          </a:ln>
        </p:spPr>
      </p:sp>
      <p:sp>
        <p:nvSpPr>
          <p:cNvPr id="60" name="Shape 57"/>
          <p:cNvSpPr/>
          <p:nvPr/>
        </p:nvSpPr>
        <p:spPr>
          <a:xfrm flipV="1">
            <a:off x="6887700" y="3381587"/>
            <a:ext cx="88072" cy="54729"/>
          </a:xfrm>
          <a:prstGeom prst="line">
            <a:avLst/>
          </a:prstGeom>
          <a:noFill/>
          <a:ln w="28575">
            <a:solidFill>
              <a:srgbClr val="0F766E"/>
            </a:solidFill>
            <a:prstDash val="solid"/>
          </a:ln>
        </p:spPr>
      </p:sp>
      <p:sp>
        <p:nvSpPr>
          <p:cNvPr id="61" name="Shape 58"/>
          <p:cNvSpPr/>
          <p:nvPr/>
        </p:nvSpPr>
        <p:spPr>
          <a:xfrm flipV="1">
            <a:off x="6975771" y="3334986"/>
            <a:ext cx="88051" cy="46601"/>
          </a:xfrm>
          <a:prstGeom prst="line">
            <a:avLst/>
          </a:prstGeom>
          <a:noFill/>
          <a:ln w="28575">
            <a:solidFill>
              <a:srgbClr val="0F766E"/>
            </a:solidFill>
            <a:prstDash val="solid"/>
          </a:ln>
        </p:spPr>
      </p:sp>
      <p:sp>
        <p:nvSpPr>
          <p:cNvPr id="62" name="Shape 59"/>
          <p:cNvSpPr/>
          <p:nvPr/>
        </p:nvSpPr>
        <p:spPr>
          <a:xfrm flipV="1">
            <a:off x="7063823" y="3297326"/>
            <a:ext cx="88029" cy="37660"/>
          </a:xfrm>
          <a:prstGeom prst="line">
            <a:avLst/>
          </a:prstGeom>
          <a:noFill/>
          <a:ln w="28575">
            <a:solidFill>
              <a:srgbClr val="0F766E"/>
            </a:solidFill>
            <a:prstDash val="solid"/>
          </a:ln>
        </p:spPr>
      </p:sp>
      <p:sp>
        <p:nvSpPr>
          <p:cNvPr id="63" name="Shape 60"/>
          <p:cNvSpPr/>
          <p:nvPr/>
        </p:nvSpPr>
        <p:spPr>
          <a:xfrm flipV="1">
            <a:off x="7151852" y="3269420"/>
            <a:ext cx="88005" cy="27906"/>
          </a:xfrm>
          <a:prstGeom prst="line">
            <a:avLst/>
          </a:prstGeom>
          <a:noFill/>
          <a:ln w="28575">
            <a:solidFill>
              <a:srgbClr val="0F766E"/>
            </a:solidFill>
            <a:prstDash val="solid"/>
          </a:ln>
        </p:spPr>
      </p:sp>
      <p:sp>
        <p:nvSpPr>
          <p:cNvPr id="64" name="Shape 61"/>
          <p:cNvSpPr/>
          <p:nvPr/>
        </p:nvSpPr>
        <p:spPr>
          <a:xfrm flipV="1">
            <a:off x="7239856" y="3252081"/>
            <a:ext cx="87978" cy="17340"/>
          </a:xfrm>
          <a:prstGeom prst="line">
            <a:avLst/>
          </a:prstGeom>
          <a:noFill/>
          <a:ln w="28575">
            <a:solidFill>
              <a:srgbClr val="0F766E"/>
            </a:solidFill>
            <a:prstDash val="solid"/>
          </a:ln>
        </p:spPr>
      </p:sp>
      <p:sp>
        <p:nvSpPr>
          <p:cNvPr id="65" name="Shape 62"/>
          <p:cNvSpPr/>
          <p:nvPr/>
        </p:nvSpPr>
        <p:spPr>
          <a:xfrm flipV="1">
            <a:off x="7327834" y="3246120"/>
            <a:ext cx="87950" cy="5961"/>
          </a:xfrm>
          <a:prstGeom prst="line">
            <a:avLst/>
          </a:prstGeom>
          <a:noFill/>
          <a:ln w="28575">
            <a:solidFill>
              <a:srgbClr val="0F766E"/>
            </a:solidFill>
            <a:prstDash val="solid"/>
          </a:ln>
        </p:spPr>
      </p:sp>
      <p:sp>
        <p:nvSpPr>
          <p:cNvPr id="66" name="Shape 63"/>
          <p:cNvSpPr/>
          <p:nvPr/>
        </p:nvSpPr>
        <p:spPr>
          <a:xfrm>
            <a:off x="7415784" y="3246120"/>
            <a:ext cx="89339" cy="4978"/>
          </a:xfrm>
          <a:prstGeom prst="line">
            <a:avLst/>
          </a:prstGeom>
          <a:noFill/>
          <a:ln w="28575">
            <a:solidFill>
              <a:srgbClr val="0F766E"/>
            </a:solidFill>
            <a:prstDash val="solid"/>
          </a:ln>
        </p:spPr>
      </p:sp>
      <p:sp>
        <p:nvSpPr>
          <p:cNvPr id="67" name="Shape 64"/>
          <p:cNvSpPr/>
          <p:nvPr/>
        </p:nvSpPr>
        <p:spPr>
          <a:xfrm>
            <a:off x="7505123" y="3251098"/>
            <a:ext cx="91953" cy="14529"/>
          </a:xfrm>
          <a:prstGeom prst="line">
            <a:avLst/>
          </a:prstGeom>
          <a:noFill/>
          <a:ln w="28575">
            <a:solidFill>
              <a:srgbClr val="0F766E"/>
            </a:solidFill>
            <a:prstDash val="solid"/>
          </a:ln>
        </p:spPr>
      </p:sp>
      <p:sp>
        <p:nvSpPr>
          <p:cNvPr id="68" name="Shape 65"/>
          <p:cNvSpPr/>
          <p:nvPr/>
        </p:nvSpPr>
        <p:spPr>
          <a:xfrm>
            <a:off x="7597076" y="3265627"/>
            <a:ext cx="94276" cy="23470"/>
          </a:xfrm>
          <a:prstGeom prst="line">
            <a:avLst/>
          </a:prstGeom>
          <a:noFill/>
          <a:ln w="28575">
            <a:solidFill>
              <a:srgbClr val="0F766E"/>
            </a:solidFill>
            <a:prstDash val="solid"/>
          </a:ln>
        </p:spPr>
      </p:sp>
      <p:sp>
        <p:nvSpPr>
          <p:cNvPr id="69" name="Shape 66"/>
          <p:cNvSpPr/>
          <p:nvPr/>
        </p:nvSpPr>
        <p:spPr>
          <a:xfrm>
            <a:off x="7691352" y="3289097"/>
            <a:ext cx="96307" cy="31801"/>
          </a:xfrm>
          <a:prstGeom prst="line">
            <a:avLst/>
          </a:prstGeom>
          <a:noFill/>
          <a:ln w="28575">
            <a:solidFill>
              <a:srgbClr val="0F766E"/>
            </a:solidFill>
            <a:prstDash val="solid"/>
          </a:ln>
        </p:spPr>
      </p:sp>
      <p:sp>
        <p:nvSpPr>
          <p:cNvPr id="70" name="Shape 67"/>
          <p:cNvSpPr/>
          <p:nvPr/>
        </p:nvSpPr>
        <p:spPr>
          <a:xfrm>
            <a:off x="7787659" y="3320898"/>
            <a:ext cx="98046" cy="39522"/>
          </a:xfrm>
          <a:prstGeom prst="line">
            <a:avLst/>
          </a:prstGeom>
          <a:noFill/>
          <a:ln w="28575">
            <a:solidFill>
              <a:srgbClr val="0F766E"/>
            </a:solidFill>
            <a:prstDash val="solid"/>
          </a:ln>
        </p:spPr>
      </p:sp>
      <p:sp>
        <p:nvSpPr>
          <p:cNvPr id="71" name="Shape 68"/>
          <p:cNvSpPr/>
          <p:nvPr/>
        </p:nvSpPr>
        <p:spPr>
          <a:xfrm>
            <a:off x="7885705" y="3360420"/>
            <a:ext cx="99494" cy="46634"/>
          </a:xfrm>
          <a:prstGeom prst="line">
            <a:avLst/>
          </a:prstGeom>
          <a:noFill/>
          <a:ln w="28575">
            <a:solidFill>
              <a:srgbClr val="0F766E"/>
            </a:solidFill>
            <a:prstDash val="solid"/>
          </a:ln>
        </p:spPr>
      </p:sp>
      <p:sp>
        <p:nvSpPr>
          <p:cNvPr id="72" name="Shape 69"/>
          <p:cNvSpPr/>
          <p:nvPr/>
        </p:nvSpPr>
        <p:spPr>
          <a:xfrm>
            <a:off x="7985199" y="3407054"/>
            <a:ext cx="100650" cy="53137"/>
          </a:xfrm>
          <a:prstGeom prst="line">
            <a:avLst/>
          </a:prstGeom>
          <a:noFill/>
          <a:ln w="28575">
            <a:solidFill>
              <a:srgbClr val="0F766E"/>
            </a:solidFill>
            <a:prstDash val="solid"/>
          </a:ln>
        </p:spPr>
      </p:sp>
      <p:sp>
        <p:nvSpPr>
          <p:cNvPr id="73" name="Shape 70"/>
          <p:cNvSpPr/>
          <p:nvPr/>
        </p:nvSpPr>
        <p:spPr>
          <a:xfrm>
            <a:off x="8085849" y="3460191"/>
            <a:ext cx="101515" cy="59030"/>
          </a:xfrm>
          <a:prstGeom prst="line">
            <a:avLst/>
          </a:prstGeom>
          <a:noFill/>
          <a:ln w="28575">
            <a:solidFill>
              <a:srgbClr val="0F766E"/>
            </a:solidFill>
            <a:prstDash val="solid"/>
          </a:ln>
        </p:spPr>
      </p:sp>
      <p:sp>
        <p:nvSpPr>
          <p:cNvPr id="74" name="Shape 71"/>
          <p:cNvSpPr/>
          <p:nvPr/>
        </p:nvSpPr>
        <p:spPr>
          <a:xfrm>
            <a:off x="8187364" y="3519221"/>
            <a:ext cx="102088" cy="64313"/>
          </a:xfrm>
          <a:prstGeom prst="line">
            <a:avLst/>
          </a:prstGeom>
          <a:noFill/>
          <a:ln w="28575">
            <a:solidFill>
              <a:srgbClr val="0F766E"/>
            </a:solidFill>
            <a:prstDash val="solid"/>
          </a:ln>
        </p:spPr>
      </p:sp>
      <p:sp>
        <p:nvSpPr>
          <p:cNvPr id="75" name="Shape 72"/>
          <p:cNvSpPr/>
          <p:nvPr/>
        </p:nvSpPr>
        <p:spPr>
          <a:xfrm>
            <a:off x="8289452" y="3583534"/>
            <a:ext cx="102369" cy="68986"/>
          </a:xfrm>
          <a:prstGeom prst="line">
            <a:avLst/>
          </a:prstGeom>
          <a:noFill/>
          <a:ln w="28575">
            <a:solidFill>
              <a:srgbClr val="0F766E"/>
            </a:solidFill>
            <a:prstDash val="solid"/>
          </a:ln>
        </p:spPr>
      </p:sp>
      <p:sp>
        <p:nvSpPr>
          <p:cNvPr id="76" name="Shape 73"/>
          <p:cNvSpPr/>
          <p:nvPr/>
        </p:nvSpPr>
        <p:spPr>
          <a:xfrm>
            <a:off x="8391821" y="3652520"/>
            <a:ext cx="102359" cy="73050"/>
          </a:xfrm>
          <a:prstGeom prst="line">
            <a:avLst/>
          </a:prstGeom>
          <a:noFill/>
          <a:ln w="28575">
            <a:solidFill>
              <a:srgbClr val="0F766E"/>
            </a:solidFill>
            <a:prstDash val="solid"/>
          </a:ln>
        </p:spPr>
      </p:sp>
      <p:sp>
        <p:nvSpPr>
          <p:cNvPr id="77" name="Shape 74"/>
          <p:cNvSpPr/>
          <p:nvPr/>
        </p:nvSpPr>
        <p:spPr>
          <a:xfrm>
            <a:off x="8494180" y="3725570"/>
            <a:ext cx="102057" cy="76505"/>
          </a:xfrm>
          <a:prstGeom prst="line">
            <a:avLst/>
          </a:prstGeom>
          <a:noFill/>
          <a:ln w="28575">
            <a:solidFill>
              <a:srgbClr val="0F766E"/>
            </a:solidFill>
            <a:prstDash val="solid"/>
          </a:ln>
        </p:spPr>
      </p:sp>
      <p:sp>
        <p:nvSpPr>
          <p:cNvPr id="78" name="Shape 75"/>
          <p:cNvSpPr/>
          <p:nvPr/>
        </p:nvSpPr>
        <p:spPr>
          <a:xfrm>
            <a:off x="8596238" y="3802075"/>
            <a:ext cx="101464" cy="79350"/>
          </a:xfrm>
          <a:prstGeom prst="line">
            <a:avLst/>
          </a:prstGeom>
          <a:noFill/>
          <a:ln w="28575">
            <a:solidFill>
              <a:srgbClr val="0F766E"/>
            </a:solidFill>
            <a:prstDash val="solid"/>
          </a:ln>
        </p:spPr>
      </p:sp>
      <p:sp>
        <p:nvSpPr>
          <p:cNvPr id="79" name="Shape 76"/>
          <p:cNvSpPr/>
          <p:nvPr/>
        </p:nvSpPr>
        <p:spPr>
          <a:xfrm>
            <a:off x="8697702" y="3881425"/>
            <a:ext cx="100579" cy="81585"/>
          </a:xfrm>
          <a:prstGeom prst="line">
            <a:avLst/>
          </a:prstGeom>
          <a:noFill/>
          <a:ln w="28575">
            <a:solidFill>
              <a:srgbClr val="0F766E"/>
            </a:solidFill>
            <a:prstDash val="solid"/>
          </a:ln>
        </p:spPr>
      </p:sp>
      <p:sp>
        <p:nvSpPr>
          <p:cNvPr id="80" name="Shape 77"/>
          <p:cNvSpPr/>
          <p:nvPr/>
        </p:nvSpPr>
        <p:spPr>
          <a:xfrm>
            <a:off x="8798281" y="3963010"/>
            <a:ext cx="99403" cy="83210"/>
          </a:xfrm>
          <a:prstGeom prst="line">
            <a:avLst/>
          </a:prstGeom>
          <a:noFill/>
          <a:ln w="28575">
            <a:solidFill>
              <a:srgbClr val="0F766E"/>
            </a:solidFill>
            <a:prstDash val="solid"/>
          </a:ln>
        </p:spPr>
      </p:sp>
      <p:sp>
        <p:nvSpPr>
          <p:cNvPr id="81" name="Shape 78"/>
          <p:cNvSpPr/>
          <p:nvPr/>
        </p:nvSpPr>
        <p:spPr>
          <a:xfrm>
            <a:off x="8897684" y="4046220"/>
            <a:ext cx="97934" cy="84226"/>
          </a:xfrm>
          <a:prstGeom prst="line">
            <a:avLst/>
          </a:prstGeom>
          <a:noFill/>
          <a:ln w="28575">
            <a:solidFill>
              <a:srgbClr val="0F766E"/>
            </a:solidFill>
            <a:prstDash val="solid"/>
          </a:ln>
        </p:spPr>
      </p:sp>
      <p:sp>
        <p:nvSpPr>
          <p:cNvPr id="82" name="Shape 79"/>
          <p:cNvSpPr/>
          <p:nvPr/>
        </p:nvSpPr>
        <p:spPr>
          <a:xfrm>
            <a:off x="8995618" y="4130446"/>
            <a:ext cx="96175" cy="84633"/>
          </a:xfrm>
          <a:prstGeom prst="line">
            <a:avLst/>
          </a:prstGeom>
          <a:noFill/>
          <a:ln w="28575">
            <a:solidFill>
              <a:srgbClr val="0F766E"/>
            </a:solidFill>
            <a:prstDash val="solid"/>
          </a:ln>
        </p:spPr>
      </p:sp>
      <p:sp>
        <p:nvSpPr>
          <p:cNvPr id="83" name="Shape 80"/>
          <p:cNvSpPr/>
          <p:nvPr/>
        </p:nvSpPr>
        <p:spPr>
          <a:xfrm>
            <a:off x="9091793" y="4215079"/>
            <a:ext cx="94123" cy="84430"/>
          </a:xfrm>
          <a:prstGeom prst="line">
            <a:avLst/>
          </a:prstGeom>
          <a:noFill/>
          <a:ln w="28575">
            <a:solidFill>
              <a:srgbClr val="0F766E"/>
            </a:solidFill>
            <a:prstDash val="solid"/>
          </a:ln>
        </p:spPr>
      </p:sp>
      <p:sp>
        <p:nvSpPr>
          <p:cNvPr id="84" name="Shape 81"/>
          <p:cNvSpPr/>
          <p:nvPr/>
        </p:nvSpPr>
        <p:spPr>
          <a:xfrm>
            <a:off x="9185916" y="4299509"/>
            <a:ext cx="91781" cy="83617"/>
          </a:xfrm>
          <a:prstGeom prst="line">
            <a:avLst/>
          </a:prstGeom>
          <a:noFill/>
          <a:ln w="28575">
            <a:solidFill>
              <a:srgbClr val="0F766E"/>
            </a:solidFill>
            <a:prstDash val="solid"/>
          </a:ln>
        </p:spPr>
      </p:sp>
      <p:sp>
        <p:nvSpPr>
          <p:cNvPr id="85" name="Shape 82"/>
          <p:cNvSpPr/>
          <p:nvPr/>
        </p:nvSpPr>
        <p:spPr>
          <a:xfrm>
            <a:off x="9277697" y="4383126"/>
            <a:ext cx="89146" cy="82194"/>
          </a:xfrm>
          <a:prstGeom prst="line">
            <a:avLst/>
          </a:prstGeom>
          <a:noFill/>
          <a:ln w="28575">
            <a:solidFill>
              <a:srgbClr val="0F766E"/>
            </a:solidFill>
            <a:prstDash val="solid"/>
          </a:ln>
        </p:spPr>
      </p:sp>
      <p:sp>
        <p:nvSpPr>
          <p:cNvPr id="86" name="Shape 83"/>
          <p:cNvSpPr/>
          <p:nvPr/>
        </p:nvSpPr>
        <p:spPr>
          <a:xfrm>
            <a:off x="9366843" y="4465320"/>
            <a:ext cx="86220" cy="80162"/>
          </a:xfrm>
          <a:prstGeom prst="line">
            <a:avLst/>
          </a:prstGeom>
          <a:noFill/>
          <a:ln w="28575">
            <a:solidFill>
              <a:srgbClr val="0F766E"/>
            </a:solidFill>
            <a:prstDash val="solid"/>
          </a:ln>
        </p:spPr>
      </p:sp>
      <p:sp>
        <p:nvSpPr>
          <p:cNvPr id="87" name="Shape 84"/>
          <p:cNvSpPr/>
          <p:nvPr/>
        </p:nvSpPr>
        <p:spPr>
          <a:xfrm>
            <a:off x="9453063" y="4545482"/>
            <a:ext cx="83002" cy="77521"/>
          </a:xfrm>
          <a:prstGeom prst="line">
            <a:avLst/>
          </a:prstGeom>
          <a:noFill/>
          <a:ln w="28575">
            <a:solidFill>
              <a:srgbClr val="0F766E"/>
            </a:solidFill>
            <a:prstDash val="solid"/>
          </a:ln>
        </p:spPr>
      </p:sp>
      <p:sp>
        <p:nvSpPr>
          <p:cNvPr id="88" name="Shape 85"/>
          <p:cNvSpPr/>
          <p:nvPr/>
        </p:nvSpPr>
        <p:spPr>
          <a:xfrm>
            <a:off x="9536065" y="4623003"/>
            <a:ext cx="79493" cy="74270"/>
          </a:xfrm>
          <a:prstGeom prst="line">
            <a:avLst/>
          </a:prstGeom>
          <a:noFill/>
          <a:ln w="28575">
            <a:solidFill>
              <a:srgbClr val="0F766E"/>
            </a:solidFill>
            <a:prstDash val="solid"/>
          </a:ln>
        </p:spPr>
      </p:sp>
      <p:sp>
        <p:nvSpPr>
          <p:cNvPr id="89" name="Shape 86"/>
          <p:cNvSpPr/>
          <p:nvPr/>
        </p:nvSpPr>
        <p:spPr>
          <a:xfrm>
            <a:off x="9615558" y="4697273"/>
            <a:ext cx="75692" cy="70409"/>
          </a:xfrm>
          <a:prstGeom prst="line">
            <a:avLst/>
          </a:prstGeom>
          <a:noFill/>
          <a:ln w="28575">
            <a:solidFill>
              <a:srgbClr val="0F766E"/>
            </a:solidFill>
            <a:prstDash val="solid"/>
          </a:ln>
        </p:spPr>
      </p:sp>
      <p:sp>
        <p:nvSpPr>
          <p:cNvPr id="90" name="Shape 87"/>
          <p:cNvSpPr/>
          <p:nvPr/>
        </p:nvSpPr>
        <p:spPr>
          <a:xfrm>
            <a:off x="9691250" y="4767682"/>
            <a:ext cx="71600" cy="65938"/>
          </a:xfrm>
          <a:prstGeom prst="line">
            <a:avLst/>
          </a:prstGeom>
          <a:noFill/>
          <a:ln w="28575">
            <a:solidFill>
              <a:srgbClr val="0F766E"/>
            </a:solidFill>
            <a:prstDash val="solid"/>
          </a:ln>
        </p:spPr>
      </p:sp>
      <p:sp>
        <p:nvSpPr>
          <p:cNvPr id="91" name="Shape 88"/>
          <p:cNvSpPr/>
          <p:nvPr/>
        </p:nvSpPr>
        <p:spPr>
          <a:xfrm>
            <a:off x="9762850" y="4833620"/>
            <a:ext cx="67216" cy="60858"/>
          </a:xfrm>
          <a:prstGeom prst="line">
            <a:avLst/>
          </a:prstGeom>
          <a:noFill/>
          <a:ln w="28575">
            <a:solidFill>
              <a:srgbClr val="0F766E"/>
            </a:solidFill>
            <a:prstDash val="solid"/>
          </a:ln>
        </p:spPr>
      </p:sp>
      <p:sp>
        <p:nvSpPr>
          <p:cNvPr id="92" name="Shape 89"/>
          <p:cNvSpPr/>
          <p:nvPr/>
        </p:nvSpPr>
        <p:spPr>
          <a:xfrm>
            <a:off x="9830066" y="4894478"/>
            <a:ext cx="62540" cy="55169"/>
          </a:xfrm>
          <a:prstGeom prst="line">
            <a:avLst/>
          </a:prstGeom>
          <a:noFill/>
          <a:ln w="28575">
            <a:solidFill>
              <a:srgbClr val="0F766E"/>
            </a:solidFill>
            <a:prstDash val="solid"/>
          </a:ln>
        </p:spPr>
      </p:sp>
      <p:sp>
        <p:nvSpPr>
          <p:cNvPr id="93" name="Shape 90"/>
          <p:cNvSpPr/>
          <p:nvPr/>
        </p:nvSpPr>
        <p:spPr>
          <a:xfrm>
            <a:off x="9892606" y="4949647"/>
            <a:ext cx="57573" cy="48870"/>
          </a:xfrm>
          <a:prstGeom prst="line">
            <a:avLst/>
          </a:prstGeom>
          <a:noFill/>
          <a:ln w="28575">
            <a:solidFill>
              <a:srgbClr val="0F766E"/>
            </a:solidFill>
            <a:prstDash val="solid"/>
          </a:ln>
        </p:spPr>
      </p:sp>
      <p:sp>
        <p:nvSpPr>
          <p:cNvPr id="94" name="Shape 91"/>
          <p:cNvSpPr/>
          <p:nvPr/>
        </p:nvSpPr>
        <p:spPr>
          <a:xfrm>
            <a:off x="9950178" y="4998517"/>
            <a:ext cx="52314" cy="41961"/>
          </a:xfrm>
          <a:prstGeom prst="line">
            <a:avLst/>
          </a:prstGeom>
          <a:noFill/>
          <a:ln w="28575">
            <a:solidFill>
              <a:srgbClr val="0F766E"/>
            </a:solidFill>
            <a:prstDash val="solid"/>
          </a:ln>
        </p:spPr>
      </p:sp>
      <p:sp>
        <p:nvSpPr>
          <p:cNvPr id="95" name="Shape 92"/>
          <p:cNvSpPr/>
          <p:nvPr/>
        </p:nvSpPr>
        <p:spPr>
          <a:xfrm>
            <a:off x="10002492" y="5040478"/>
            <a:ext cx="46764" cy="34442"/>
          </a:xfrm>
          <a:prstGeom prst="line">
            <a:avLst/>
          </a:prstGeom>
          <a:noFill/>
          <a:ln w="28575">
            <a:solidFill>
              <a:srgbClr val="0F766E"/>
            </a:solidFill>
            <a:prstDash val="solid"/>
          </a:ln>
        </p:spPr>
      </p:sp>
      <p:sp>
        <p:nvSpPr>
          <p:cNvPr id="96" name="Shape 93"/>
          <p:cNvSpPr/>
          <p:nvPr/>
        </p:nvSpPr>
        <p:spPr>
          <a:xfrm>
            <a:off x="1362456" y="2468880"/>
            <a:ext cx="1554480" cy="15544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F766E"/>
            </a:solidFill>
            <a:prstDash val="solid"/>
          </a:ln>
          <a:effectLst>
            <a:outerShdw sx="100000" sy="100000" kx="0" ky="0" algn="bl" rotWithShape="0" blurRad="101600" dist="38100" dir="5400000">
              <a:srgbClr val="0F172A">
                <a:alpha val="10000"/>
              </a:srgbClr>
            </a:outerShdw>
          </a:effectLst>
        </p:spPr>
      </p:sp>
      <p:sp>
        <p:nvSpPr>
          <p:cNvPr id="97" name="Shape 94"/>
          <p:cNvSpPr/>
          <p:nvPr/>
        </p:nvSpPr>
        <p:spPr>
          <a:xfrm>
            <a:off x="1956816" y="2651760"/>
            <a:ext cx="365760" cy="365760"/>
          </a:xfrm>
          <a:prstGeom prst="ellipse">
            <a:avLst/>
          </a:prstGeom>
          <a:solidFill>
            <a:srgbClr val="CCFBF1"/>
          </a:solidFill>
          <a:ln/>
        </p:spPr>
      </p:sp>
      <p:sp>
        <p:nvSpPr>
          <p:cNvPr id="98" name="Text 95"/>
          <p:cNvSpPr/>
          <p:nvPr/>
        </p:nvSpPr>
        <p:spPr>
          <a:xfrm>
            <a:off x="1956816" y="2651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9" name="Text 96"/>
          <p:cNvSpPr/>
          <p:nvPr/>
        </p:nvSpPr>
        <p:spPr>
          <a:xfrm>
            <a:off x="1490472" y="3127248"/>
            <a:ext cx="12984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 us about yourself</a:t>
            </a:r>
            <a:endParaRPr lang="en-US" sz="1250" dirty="0"/>
          </a:p>
        </p:txBody>
      </p:sp>
      <p:sp>
        <p:nvSpPr>
          <p:cNvPr id="100" name="Text 97"/>
          <p:cNvSpPr/>
          <p:nvPr/>
        </p:nvSpPr>
        <p:spPr>
          <a:xfrm>
            <a:off x="1110996" y="2084832"/>
            <a:ext cx="205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English. No forms.</a:t>
            </a:r>
            <a:endParaRPr lang="en-US" sz="1050" dirty="0"/>
          </a:p>
        </p:txBody>
      </p:sp>
      <p:sp>
        <p:nvSpPr>
          <p:cNvPr id="101" name="Shape 98"/>
          <p:cNvSpPr/>
          <p:nvPr/>
        </p:nvSpPr>
        <p:spPr>
          <a:xfrm>
            <a:off x="3995928" y="4297680"/>
            <a:ext cx="1554480" cy="15544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F766E"/>
            </a:solidFill>
            <a:prstDash val="solid"/>
          </a:ln>
          <a:effectLst>
            <a:outerShdw sx="100000" sy="100000" kx="0" ky="0" algn="bl" rotWithShape="0" blurRad="101600" dist="38100" dir="5400000">
              <a:srgbClr val="0F172A">
                <a:alpha val="10000"/>
              </a:srgbClr>
            </a:outerShdw>
          </a:effectLst>
        </p:spPr>
      </p:sp>
      <p:sp>
        <p:nvSpPr>
          <p:cNvPr id="102" name="Shape 99"/>
          <p:cNvSpPr/>
          <p:nvPr/>
        </p:nvSpPr>
        <p:spPr>
          <a:xfrm>
            <a:off x="4590288" y="4480560"/>
            <a:ext cx="365760" cy="365760"/>
          </a:xfrm>
          <a:prstGeom prst="ellipse">
            <a:avLst/>
          </a:prstGeom>
          <a:solidFill>
            <a:srgbClr val="CCFBF1"/>
          </a:solidFill>
          <a:ln/>
        </p:spPr>
      </p:sp>
      <p:sp>
        <p:nvSpPr>
          <p:cNvPr id="103" name="Text 100"/>
          <p:cNvSpPr/>
          <p:nvPr/>
        </p:nvSpPr>
        <p:spPr>
          <a:xfrm>
            <a:off x="4590288" y="4480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04" name="Text 101"/>
          <p:cNvSpPr/>
          <p:nvPr/>
        </p:nvSpPr>
        <p:spPr>
          <a:xfrm>
            <a:off x="4123944" y="4956048"/>
            <a:ext cx="12984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builds your profile</a:t>
            </a:r>
            <a:endParaRPr lang="en-US" sz="1250" dirty="0"/>
          </a:p>
        </p:txBody>
      </p:sp>
      <p:sp>
        <p:nvSpPr>
          <p:cNvPr id="105" name="Text 102"/>
          <p:cNvSpPr/>
          <p:nvPr/>
        </p:nvSpPr>
        <p:spPr>
          <a:xfrm>
            <a:off x="3744468" y="5961888"/>
            <a:ext cx="205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structures your situation.</a:t>
            </a:r>
            <a:endParaRPr lang="en-US" sz="1050" dirty="0"/>
          </a:p>
        </p:txBody>
      </p:sp>
      <p:sp>
        <p:nvSpPr>
          <p:cNvPr id="106" name="Shape 103"/>
          <p:cNvSpPr/>
          <p:nvPr/>
        </p:nvSpPr>
        <p:spPr>
          <a:xfrm>
            <a:off x="6638544" y="2468880"/>
            <a:ext cx="1554480" cy="15544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F766E"/>
            </a:solidFill>
            <a:prstDash val="solid"/>
          </a:ln>
          <a:effectLst>
            <a:outerShdw sx="100000" sy="100000" kx="0" ky="0" algn="bl" rotWithShape="0" blurRad="101600" dist="38100" dir="5400000">
              <a:srgbClr val="0F172A">
                <a:alpha val="10000"/>
              </a:srgbClr>
            </a:outerShdw>
          </a:effectLst>
        </p:spPr>
      </p:sp>
      <p:sp>
        <p:nvSpPr>
          <p:cNvPr id="107" name="Shape 104"/>
          <p:cNvSpPr/>
          <p:nvPr/>
        </p:nvSpPr>
        <p:spPr>
          <a:xfrm>
            <a:off x="7232904" y="2651760"/>
            <a:ext cx="365760" cy="365760"/>
          </a:xfrm>
          <a:prstGeom prst="ellipse">
            <a:avLst/>
          </a:prstGeom>
          <a:solidFill>
            <a:srgbClr val="CCFBF1"/>
          </a:solidFill>
          <a:ln/>
        </p:spPr>
      </p:sp>
      <p:sp>
        <p:nvSpPr>
          <p:cNvPr id="108" name="Text 105"/>
          <p:cNvSpPr/>
          <p:nvPr/>
        </p:nvSpPr>
        <p:spPr>
          <a:xfrm>
            <a:off x="7232904" y="2651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09" name="Text 106"/>
          <p:cNvSpPr/>
          <p:nvPr/>
        </p:nvSpPr>
        <p:spPr>
          <a:xfrm>
            <a:off x="6766560" y="3127248"/>
            <a:ext cx="12984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 screens, not the AI</a:t>
            </a:r>
            <a:endParaRPr lang="en-US" sz="1250" dirty="0"/>
          </a:p>
        </p:txBody>
      </p:sp>
      <p:sp>
        <p:nvSpPr>
          <p:cNvPr id="110" name="Text 107"/>
          <p:cNvSpPr/>
          <p:nvPr/>
        </p:nvSpPr>
        <p:spPr>
          <a:xfrm>
            <a:off x="6387084" y="2084832"/>
            <a:ext cx="205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decide eligibility.</a:t>
            </a:r>
            <a:endParaRPr lang="en-US" sz="1050" dirty="0"/>
          </a:p>
        </p:txBody>
      </p:sp>
      <p:sp>
        <p:nvSpPr>
          <p:cNvPr id="111" name="Shape 108"/>
          <p:cNvSpPr/>
          <p:nvPr/>
        </p:nvSpPr>
        <p:spPr>
          <a:xfrm>
            <a:off x="9272016" y="4297680"/>
            <a:ext cx="1554480" cy="15544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F766E"/>
            </a:solidFill>
            <a:prstDash val="solid"/>
          </a:ln>
          <a:effectLst>
            <a:outerShdw sx="100000" sy="100000" kx="0" ky="0" algn="bl" rotWithShape="0" blurRad="101600" dist="38100" dir="5400000">
              <a:srgbClr val="0F172A">
                <a:alpha val="10000"/>
              </a:srgbClr>
            </a:outerShdw>
          </a:effectLst>
        </p:spPr>
      </p:sp>
      <p:sp>
        <p:nvSpPr>
          <p:cNvPr id="112" name="Shape 109"/>
          <p:cNvSpPr/>
          <p:nvPr/>
        </p:nvSpPr>
        <p:spPr>
          <a:xfrm>
            <a:off x="9866376" y="4480560"/>
            <a:ext cx="365760" cy="365760"/>
          </a:xfrm>
          <a:prstGeom prst="ellipse">
            <a:avLst/>
          </a:prstGeom>
          <a:solidFill>
            <a:srgbClr val="CCFBF1"/>
          </a:solidFill>
          <a:ln/>
        </p:spPr>
      </p:sp>
      <p:sp>
        <p:nvSpPr>
          <p:cNvPr id="113" name="Text 110"/>
          <p:cNvSpPr/>
          <p:nvPr/>
        </p:nvSpPr>
        <p:spPr>
          <a:xfrm>
            <a:off x="9866376" y="4480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14" name="Text 111"/>
          <p:cNvSpPr/>
          <p:nvPr/>
        </p:nvSpPr>
        <p:spPr>
          <a:xfrm>
            <a:off x="9400032" y="4956048"/>
            <a:ext cx="12984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Dollars and next steps</a:t>
            </a:r>
            <a:endParaRPr lang="en-US" sz="1250" dirty="0"/>
          </a:p>
        </p:txBody>
      </p:sp>
      <p:sp>
        <p:nvSpPr>
          <p:cNvPr id="115" name="Text 112"/>
          <p:cNvSpPr/>
          <p:nvPr/>
        </p:nvSpPr>
        <p:spPr>
          <a:xfrm>
            <a:off x="9020556" y="5961888"/>
            <a:ext cx="205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 + pre-filled application.</a:t>
            </a:r>
            <a:endParaRPr lang="en-US" sz="1050" dirty="0"/>
          </a:p>
        </p:txBody>
      </p:sp>
      <p:sp>
        <p:nvSpPr>
          <p:cNvPr id="116" name="Text 113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enefy_deck/logo_cropp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402336"/>
            <a:ext cx="949408" cy="42062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10515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WE'RE HEADED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640080" y="137160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300"/>
              </a:lnSpc>
              <a:buNone/>
            </a:pPr>
            <a:r>
              <a:rPr lang="en-US" sz="2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weekend is the prototype. The mission is </a:t>
            </a:r>
            <a:pPr indent="0" marL="0">
              <a:lnSpc>
                <a:spcPts val="3300"/>
              </a:lnSpc>
              <a:buNone/>
            </a:pPr>
            <a:r>
              <a:rPr lang="en-US" sz="27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62,000 people</a:t>
            </a:r>
            <a:pPr indent="0" marL="0">
              <a:lnSpc>
                <a:spcPts val="3300"/>
              </a:lnSpc>
              <a:buNone/>
            </a:pPr>
            <a:r>
              <a:rPr lang="en-US" sz="2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and counting.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640080" y="2606040"/>
            <a:ext cx="3429000" cy="301752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0F172A">
                <a:alpha val="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896112" y="2916936"/>
            <a:ext cx="128016" cy="128016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7" name="Text 4"/>
          <p:cNvSpPr/>
          <p:nvPr/>
        </p:nvSpPr>
        <p:spPr>
          <a:xfrm>
            <a:off x="1143000" y="2825496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program coverage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96112" y="3383280"/>
            <a:ext cx="29260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Medi-Cal, CalWORKs, SSI, utility assistance, and local SF programs to the matching engine.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389120" y="2606040"/>
            <a:ext cx="3429000" cy="301752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0F172A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45152" y="2916936"/>
            <a:ext cx="128016" cy="128016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1" name="Text 8"/>
          <p:cNvSpPr/>
          <p:nvPr/>
        </p:nvSpPr>
        <p:spPr>
          <a:xfrm>
            <a:off x="4892040" y="2825496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 by default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4645152" y="3383280"/>
            <a:ext cx="29260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the interview in Spanish, Cantonese, Vietnamese, and Tagalog from day one.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8138160" y="2606040"/>
            <a:ext cx="3429000" cy="301752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0F172A">
                <a:alpha val="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8394192" y="2916936"/>
            <a:ext cx="128016" cy="128016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5" name="Text 12"/>
          <p:cNvSpPr/>
          <p:nvPr/>
        </p:nvSpPr>
        <p:spPr>
          <a:xfrm>
            <a:off x="8641080" y="2825496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with local orgs</a:t>
            </a:r>
            <a:endParaRPr lang="en-US" sz="1450" dirty="0"/>
          </a:p>
        </p:txBody>
      </p:sp>
      <p:sp>
        <p:nvSpPr>
          <p:cNvPr id="16" name="Text 13"/>
          <p:cNvSpPr/>
          <p:nvPr/>
        </p:nvSpPr>
        <p:spPr>
          <a:xfrm>
            <a:off x="8394192" y="3383280"/>
            <a:ext cx="29260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alongside food banks, shelters, and clinics already embedded in high-need neighborhoods.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640080" y="603504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Benefy: helping people claim what they've already earned.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enefy_deck/logo_cropp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402336"/>
            <a:ext cx="949408" cy="42062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9144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640080" y="1207008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stat in this deck, cited.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685800" y="2057400"/>
            <a:ext cx="118872" cy="11887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6" name="Text 3"/>
          <p:cNvSpPr/>
          <p:nvPr/>
        </p:nvSpPr>
        <p:spPr>
          <a:xfrm>
            <a:off x="960120" y="1911096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 Francisco–Marin Food Bank: Access to Resources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960120" y="2221992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62,000 eligible-but-unenrolled CalFresh estimate for SF &amp; Marin.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960120" y="2468880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sfmfoodbank.org/advocacy/access-to-resources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685800" y="2862072"/>
            <a:ext cx="118872" cy="11887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0" name="Text 7"/>
          <p:cNvSpPr/>
          <p:nvPr/>
        </p:nvSpPr>
        <p:spPr>
          <a:xfrm>
            <a:off x="960120" y="2715768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 Francisco–Marin Food Bank: Hunger Report 2025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960120" y="3026664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$3.5B unclaimed statewide; 2.7M eligible Californians unenrolled.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960120" y="3273552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sfmfoodbank.org/hunger-report-2025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685800" y="3666744"/>
            <a:ext cx="118872" cy="11887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4" name="Text 11"/>
          <p:cNvSpPr/>
          <p:nvPr/>
        </p:nvSpPr>
        <p:spPr>
          <a:xfrm>
            <a:off x="960120" y="3520440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Alliance to End Homelessness / SOAR outcomes study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960120" y="3831336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10–15% unassisted vs. 73% SOAR-assisted SSI/SSDI approval rates.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960120" y="4078224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endhomelessness.org/blog/soar-is-designed-to-increase-access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85800" y="4471416"/>
            <a:ext cx="118872" cy="11887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8" name="Text 15"/>
          <p:cNvSpPr/>
          <p:nvPr/>
        </p:nvSpPr>
        <p:spPr>
          <a:xfrm>
            <a:off x="960120" y="4325112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Institute: Program Participation Rates for Adults 65+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960120" y="4636008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49% national SSI participation rate among eligible seniors.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960120" y="4882896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urban.org/research/estimation-national-state-substate-program-participation-rates-adults-65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685800" y="5276088"/>
            <a:ext cx="118872" cy="11887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2" name="Text 19"/>
          <p:cNvSpPr/>
          <p:nvPr/>
        </p:nvSpPr>
        <p:spPr>
          <a:xfrm>
            <a:off x="960120" y="5129784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Stanford Law School / San Francisco Examiner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960120" y="5440680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~80% national EITC uptake; SF CalEITC claims data.</a:t>
            </a:r>
            <a:endParaRPr lang="en-US" sz="1150" dirty="0"/>
          </a:p>
        </p:txBody>
      </p:sp>
      <p:sp>
        <p:nvSpPr>
          <p:cNvPr id="24" name="Text 21"/>
          <p:cNvSpPr/>
          <p:nvPr/>
        </p:nvSpPr>
        <p:spPr>
          <a:xfrm>
            <a:off x="960120" y="5687568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law.stanford.edu, "Do Black Taxpayers Matter?" · sfexaminer.com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2026-07-11T07:13:45Z</dcterms:created>
  <dcterms:modified xsi:type="dcterms:W3CDTF">2026-07-11T07:13:45Z</dcterms:modified>
</cp:coreProperties>
</file>